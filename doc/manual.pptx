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5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F9EE6-EA4F-419D-AC20-29ECA3F40754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49EE7-59A6-4D46-8BBE-ACFD37C9E7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5419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F9EE6-EA4F-419D-AC20-29ECA3F40754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49EE7-59A6-4D46-8BBE-ACFD37C9E7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1042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F9EE6-EA4F-419D-AC20-29ECA3F40754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49EE7-59A6-4D46-8BBE-ACFD37C9E7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110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F9EE6-EA4F-419D-AC20-29ECA3F40754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49EE7-59A6-4D46-8BBE-ACFD37C9E7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0529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F9EE6-EA4F-419D-AC20-29ECA3F40754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49EE7-59A6-4D46-8BBE-ACFD37C9E7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8722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F9EE6-EA4F-419D-AC20-29ECA3F40754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49EE7-59A6-4D46-8BBE-ACFD37C9E7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7864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F9EE6-EA4F-419D-AC20-29ECA3F40754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49EE7-59A6-4D46-8BBE-ACFD37C9E7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3030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F9EE6-EA4F-419D-AC20-29ECA3F40754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49EE7-59A6-4D46-8BBE-ACFD37C9E7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567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F9EE6-EA4F-419D-AC20-29ECA3F40754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49EE7-59A6-4D46-8BBE-ACFD37C9E7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5053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F9EE6-EA4F-419D-AC20-29ECA3F40754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49EE7-59A6-4D46-8BBE-ACFD37C9E7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4936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F9EE6-EA4F-419D-AC20-29ECA3F40754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49EE7-59A6-4D46-8BBE-ACFD37C9E7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7229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BF9EE6-EA4F-419D-AC20-29ECA3F40754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249EE7-59A6-4D46-8BBE-ACFD37C9E7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7151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AD80D8C-78D4-D381-9135-AA816D5E6BAF}"/>
              </a:ext>
            </a:extLst>
          </p:cNvPr>
          <p:cNvCxnSpPr/>
          <p:nvPr/>
        </p:nvCxnSpPr>
        <p:spPr>
          <a:xfrm>
            <a:off x="267855" y="508000"/>
            <a:ext cx="9310254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6D78B263-3EBF-C3D5-8B7A-90F71A49BBDC}"/>
              </a:ext>
            </a:extLst>
          </p:cNvPr>
          <p:cNvCxnSpPr/>
          <p:nvPr/>
        </p:nvCxnSpPr>
        <p:spPr>
          <a:xfrm>
            <a:off x="297873" y="6548582"/>
            <a:ext cx="9310254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8866B51-01F3-7254-0DD4-205C021F81A4}"/>
              </a:ext>
            </a:extLst>
          </p:cNvPr>
          <p:cNvCxnSpPr/>
          <p:nvPr/>
        </p:nvCxnSpPr>
        <p:spPr>
          <a:xfrm>
            <a:off x="279401" y="452582"/>
            <a:ext cx="9310254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9F11788-D40E-7C9F-142D-6C0C518BEB80}"/>
              </a:ext>
            </a:extLst>
          </p:cNvPr>
          <p:cNvSpPr txBox="1"/>
          <p:nvPr/>
        </p:nvSpPr>
        <p:spPr>
          <a:xfrm>
            <a:off x="4292600" y="6068414"/>
            <a:ext cx="932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구성도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120F9539-5A0D-2768-7EB9-C8C0F76A089C}"/>
              </a:ext>
            </a:extLst>
          </p:cNvPr>
          <p:cNvCxnSpPr/>
          <p:nvPr/>
        </p:nvCxnSpPr>
        <p:spPr>
          <a:xfrm>
            <a:off x="900545" y="2045853"/>
            <a:ext cx="800792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6746B64-5F2E-3FC5-D163-F99AF6D5C2D3}"/>
              </a:ext>
            </a:extLst>
          </p:cNvPr>
          <p:cNvSpPr/>
          <p:nvPr/>
        </p:nvSpPr>
        <p:spPr>
          <a:xfrm>
            <a:off x="876299" y="2154384"/>
            <a:ext cx="988291" cy="6927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S1_L</a:t>
            </a:r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3845B324-D2B5-9B5E-1B30-55C6A20C55A9}"/>
              </a:ext>
            </a:extLst>
          </p:cNvPr>
          <p:cNvSpPr/>
          <p:nvPr/>
        </p:nvSpPr>
        <p:spPr>
          <a:xfrm>
            <a:off x="8096826" y="2161309"/>
            <a:ext cx="988291" cy="6927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S1_R</a:t>
            </a:r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6F9146DC-D21A-B5D7-1CFF-1BD53805D1CC}"/>
              </a:ext>
            </a:extLst>
          </p:cNvPr>
          <p:cNvSpPr/>
          <p:nvPr/>
        </p:nvSpPr>
        <p:spPr>
          <a:xfrm>
            <a:off x="2124364" y="2175162"/>
            <a:ext cx="1246909" cy="37869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S2_pos1</a:t>
            </a:r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9AC5B53F-B2A1-5E7B-67C9-6B1F20FD2246}"/>
              </a:ext>
            </a:extLst>
          </p:cNvPr>
          <p:cNvSpPr/>
          <p:nvPr/>
        </p:nvSpPr>
        <p:spPr>
          <a:xfrm>
            <a:off x="3669146" y="2175162"/>
            <a:ext cx="1246909" cy="37869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S2_pos2</a:t>
            </a:r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9627A7E5-FDED-D732-0F61-A717DF65B0ED}"/>
              </a:ext>
            </a:extLst>
          </p:cNvPr>
          <p:cNvSpPr/>
          <p:nvPr/>
        </p:nvSpPr>
        <p:spPr>
          <a:xfrm>
            <a:off x="6576291" y="2161309"/>
            <a:ext cx="1246909" cy="37869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S2_posN</a:t>
            </a:r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C901A5B1-7850-4943-2007-7998DF60316C}"/>
              </a:ext>
            </a:extLst>
          </p:cNvPr>
          <p:cNvSpPr/>
          <p:nvPr/>
        </p:nvSpPr>
        <p:spPr>
          <a:xfrm>
            <a:off x="5368637" y="2341414"/>
            <a:ext cx="138545" cy="87739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C48BC9CC-A740-BA52-4783-1B5073A6B40D}"/>
              </a:ext>
            </a:extLst>
          </p:cNvPr>
          <p:cNvSpPr/>
          <p:nvPr/>
        </p:nvSpPr>
        <p:spPr>
          <a:xfrm>
            <a:off x="5669974" y="2336802"/>
            <a:ext cx="138545" cy="87739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6FE00E02-270E-37E4-847C-2B1F32909399}"/>
              </a:ext>
            </a:extLst>
          </p:cNvPr>
          <p:cNvSpPr/>
          <p:nvPr/>
        </p:nvSpPr>
        <p:spPr>
          <a:xfrm>
            <a:off x="6010565" y="2336802"/>
            <a:ext cx="138545" cy="87739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CE8B4CB1-0C74-461A-CCD8-A04E65935917}"/>
              </a:ext>
            </a:extLst>
          </p:cNvPr>
          <p:cNvSpPr/>
          <p:nvPr/>
        </p:nvSpPr>
        <p:spPr>
          <a:xfrm>
            <a:off x="3673765" y="1191482"/>
            <a:ext cx="1764144" cy="692723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Monitor Panel</a:t>
            </a:r>
            <a:endParaRPr lang="ko-KR" altLang="en-US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7716550E-201C-6DCD-3E53-3C91F0035907}"/>
              </a:ext>
            </a:extLst>
          </p:cNvPr>
          <p:cNvSpPr/>
          <p:nvPr/>
        </p:nvSpPr>
        <p:spPr>
          <a:xfrm>
            <a:off x="297873" y="669649"/>
            <a:ext cx="1764144" cy="69272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accent5">
                    <a:lumMod val="60000"/>
                    <a:lumOff val="40000"/>
                  </a:schemeClr>
                </a:solidFill>
              </a:rPr>
              <a:t>SETUP PC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08B4AEC9-02AB-D748-A77F-F7BB6AD60C97}"/>
              </a:ext>
            </a:extLst>
          </p:cNvPr>
          <p:cNvSpPr/>
          <p:nvPr/>
        </p:nvSpPr>
        <p:spPr>
          <a:xfrm>
            <a:off x="3673766" y="611909"/>
            <a:ext cx="1764143" cy="475664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DHCP Server</a:t>
            </a:r>
            <a:endParaRPr lang="ko-KR" altLang="en-US"/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372AD7D5-1A13-BBB2-A7B9-8BC51AE0F347}"/>
              </a:ext>
            </a:extLst>
          </p:cNvPr>
          <p:cNvCxnSpPr>
            <a:cxnSpLocks/>
          </p:cNvCxnSpPr>
          <p:nvPr/>
        </p:nvCxnSpPr>
        <p:spPr>
          <a:xfrm>
            <a:off x="1370444" y="2964873"/>
            <a:ext cx="0" cy="2835563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25A71C60-E509-EB79-21C4-BD5E6E99BE71}"/>
              </a:ext>
            </a:extLst>
          </p:cNvPr>
          <p:cNvCxnSpPr/>
          <p:nvPr/>
        </p:nvCxnSpPr>
        <p:spPr>
          <a:xfrm>
            <a:off x="928826" y="5913597"/>
            <a:ext cx="800792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A8A6B593-DFB1-F9EE-1AE2-0847427A85C4}"/>
              </a:ext>
            </a:extLst>
          </p:cNvPr>
          <p:cNvCxnSpPr/>
          <p:nvPr/>
        </p:nvCxnSpPr>
        <p:spPr>
          <a:xfrm>
            <a:off x="880334" y="5959779"/>
            <a:ext cx="800792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20BED4EB-3777-DE5C-0D07-BDEB6A8E3126}"/>
              </a:ext>
            </a:extLst>
          </p:cNvPr>
          <p:cNvCxnSpPr/>
          <p:nvPr/>
        </p:nvCxnSpPr>
        <p:spPr>
          <a:xfrm>
            <a:off x="836462" y="6024433"/>
            <a:ext cx="800792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4E5501DD-1EA2-CBCA-F9A0-5F84DE98293A}"/>
              </a:ext>
            </a:extLst>
          </p:cNvPr>
          <p:cNvCxnSpPr>
            <a:cxnSpLocks/>
          </p:cNvCxnSpPr>
          <p:nvPr/>
        </p:nvCxnSpPr>
        <p:spPr>
          <a:xfrm>
            <a:off x="8722589" y="3029528"/>
            <a:ext cx="0" cy="2770908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241A2105-0B02-B790-B449-4990DF6738E6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1864590" y="2553852"/>
            <a:ext cx="883229" cy="2757057"/>
          </a:xfrm>
          <a:prstGeom prst="line">
            <a:avLst/>
          </a:prstGeom>
          <a:ln>
            <a:solidFill>
              <a:srgbClr val="FFC00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6EEA9122-B9BD-526E-EF6F-2DE127114752}"/>
              </a:ext>
            </a:extLst>
          </p:cNvPr>
          <p:cNvCxnSpPr>
            <a:stCxn id="13" idx="2"/>
          </p:cNvCxnSpPr>
          <p:nvPr/>
        </p:nvCxnSpPr>
        <p:spPr>
          <a:xfrm>
            <a:off x="2747819" y="2553852"/>
            <a:ext cx="798945" cy="2757057"/>
          </a:xfrm>
          <a:prstGeom prst="line">
            <a:avLst/>
          </a:prstGeom>
          <a:ln>
            <a:solidFill>
              <a:srgbClr val="FFC00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4B8A6800-A941-3B29-FF24-7DF8127E8B21}"/>
              </a:ext>
            </a:extLst>
          </p:cNvPr>
          <p:cNvCxnSpPr>
            <a:cxnSpLocks/>
          </p:cNvCxnSpPr>
          <p:nvPr/>
        </p:nvCxnSpPr>
        <p:spPr>
          <a:xfrm flipH="1">
            <a:off x="3322200" y="2581559"/>
            <a:ext cx="883229" cy="2757057"/>
          </a:xfrm>
          <a:prstGeom prst="line">
            <a:avLst/>
          </a:prstGeom>
          <a:ln>
            <a:solidFill>
              <a:srgbClr val="FFC00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9B03ABBB-0E69-CC3B-5DA7-1D44296B5CC8}"/>
              </a:ext>
            </a:extLst>
          </p:cNvPr>
          <p:cNvCxnSpPr/>
          <p:nvPr/>
        </p:nvCxnSpPr>
        <p:spPr>
          <a:xfrm>
            <a:off x="4205429" y="2581559"/>
            <a:ext cx="798945" cy="2757057"/>
          </a:xfrm>
          <a:prstGeom prst="line">
            <a:avLst/>
          </a:prstGeom>
          <a:ln>
            <a:solidFill>
              <a:srgbClr val="FFC00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48FD2B7D-AAE8-F61E-7FD7-7B3A85362D76}"/>
              </a:ext>
            </a:extLst>
          </p:cNvPr>
          <p:cNvCxnSpPr>
            <a:cxnSpLocks/>
          </p:cNvCxnSpPr>
          <p:nvPr/>
        </p:nvCxnSpPr>
        <p:spPr>
          <a:xfrm flipH="1">
            <a:off x="6326333" y="2553852"/>
            <a:ext cx="883229" cy="2757057"/>
          </a:xfrm>
          <a:prstGeom prst="line">
            <a:avLst/>
          </a:prstGeom>
          <a:ln>
            <a:solidFill>
              <a:srgbClr val="FFC00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C4147831-8405-DC90-291F-DBBFC4B79020}"/>
              </a:ext>
            </a:extLst>
          </p:cNvPr>
          <p:cNvCxnSpPr/>
          <p:nvPr/>
        </p:nvCxnSpPr>
        <p:spPr>
          <a:xfrm>
            <a:off x="7209562" y="2553852"/>
            <a:ext cx="798945" cy="2757057"/>
          </a:xfrm>
          <a:prstGeom prst="line">
            <a:avLst/>
          </a:prstGeom>
          <a:ln>
            <a:solidFill>
              <a:srgbClr val="FFC00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71FCE259-364E-380D-CC5A-D4261359256A}"/>
              </a:ext>
            </a:extLst>
          </p:cNvPr>
          <p:cNvSpPr txBox="1"/>
          <p:nvPr/>
        </p:nvSpPr>
        <p:spPr>
          <a:xfrm>
            <a:off x="2585601" y="3044233"/>
            <a:ext cx="7914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/>
              <a:t>64</a:t>
            </a:r>
            <a:r>
              <a:rPr lang="en-US" altLang="ko-KR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°</a:t>
            </a:r>
            <a:endParaRPr lang="ko-KR" altLang="en-US" sz="10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E0F5703-28A8-ED48-0313-2F25F8505EF5}"/>
              </a:ext>
            </a:extLst>
          </p:cNvPr>
          <p:cNvSpPr txBox="1"/>
          <p:nvPr/>
        </p:nvSpPr>
        <p:spPr>
          <a:xfrm>
            <a:off x="4048990" y="3065125"/>
            <a:ext cx="7914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/>
              <a:t>64</a:t>
            </a:r>
            <a:r>
              <a:rPr lang="en-US" altLang="ko-KR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°</a:t>
            </a:r>
            <a:endParaRPr lang="ko-KR" altLang="en-US" sz="100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F11D44B-BA7C-3C3C-4EEA-E2D28FAC4E4C}"/>
              </a:ext>
            </a:extLst>
          </p:cNvPr>
          <p:cNvSpPr txBox="1"/>
          <p:nvPr/>
        </p:nvSpPr>
        <p:spPr>
          <a:xfrm>
            <a:off x="7046192" y="3053469"/>
            <a:ext cx="7914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/>
              <a:t>64</a:t>
            </a:r>
            <a:r>
              <a:rPr lang="en-US" altLang="ko-KR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°</a:t>
            </a:r>
            <a:endParaRPr lang="ko-KR" altLang="en-US" sz="10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2319B26-E4F0-54BE-394A-BD2819BD4124}"/>
              </a:ext>
            </a:extLst>
          </p:cNvPr>
          <p:cNvSpPr txBox="1"/>
          <p:nvPr/>
        </p:nvSpPr>
        <p:spPr>
          <a:xfrm>
            <a:off x="637595" y="4295018"/>
            <a:ext cx="745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Max 9M</a:t>
            </a:r>
            <a:endParaRPr lang="ko-KR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3B763DB-D447-F232-9D46-2AD6A1F814D7}"/>
              </a:ext>
            </a:extLst>
          </p:cNvPr>
          <p:cNvSpPr txBox="1"/>
          <p:nvPr/>
        </p:nvSpPr>
        <p:spPr>
          <a:xfrm>
            <a:off x="2375187" y="4636697"/>
            <a:ext cx="745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Max 4M</a:t>
            </a:r>
            <a:endParaRPr lang="ko-KR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E2C57D-0E02-5475-3405-742A8F9544A9}"/>
              </a:ext>
            </a:extLst>
          </p:cNvPr>
          <p:cNvSpPr txBox="1"/>
          <p:nvPr/>
        </p:nvSpPr>
        <p:spPr>
          <a:xfrm>
            <a:off x="267855" y="129309"/>
            <a:ext cx="17179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Block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1057167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63292-D31A-4635-2A93-74F8916BA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A9337B0-A8EB-FC7B-3064-47DA5DDD5153}"/>
              </a:ext>
            </a:extLst>
          </p:cNvPr>
          <p:cNvCxnSpPr/>
          <p:nvPr/>
        </p:nvCxnSpPr>
        <p:spPr>
          <a:xfrm>
            <a:off x="267855" y="508000"/>
            <a:ext cx="9310254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F6ECB78-2967-F823-27D9-D303F10D229F}"/>
              </a:ext>
            </a:extLst>
          </p:cNvPr>
          <p:cNvCxnSpPr/>
          <p:nvPr/>
        </p:nvCxnSpPr>
        <p:spPr>
          <a:xfrm>
            <a:off x="297873" y="6548582"/>
            <a:ext cx="9310254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9224955-000F-2A11-FC62-CFB8B07F9183}"/>
              </a:ext>
            </a:extLst>
          </p:cNvPr>
          <p:cNvCxnSpPr/>
          <p:nvPr/>
        </p:nvCxnSpPr>
        <p:spPr>
          <a:xfrm>
            <a:off x="279401" y="452582"/>
            <a:ext cx="9310254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67EAFEC0-F28C-6B2E-43DD-2E7D55B83582}"/>
              </a:ext>
            </a:extLst>
          </p:cNvPr>
          <p:cNvSpPr/>
          <p:nvPr/>
        </p:nvSpPr>
        <p:spPr>
          <a:xfrm>
            <a:off x="3858493" y="6045216"/>
            <a:ext cx="1803398" cy="36020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Monitor Panel</a:t>
            </a:r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72BC75F-2785-B1F9-9B87-AA53DE715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275" y="943687"/>
            <a:ext cx="5928098" cy="4390314"/>
          </a:xfrm>
          <a:prstGeom prst="rect">
            <a:avLst/>
          </a:prstGeom>
        </p:spPr>
      </p:pic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B0F6141A-B3E3-13D9-3ABD-EA743EB43E18}"/>
              </a:ext>
            </a:extLst>
          </p:cNvPr>
          <p:cNvCxnSpPr/>
          <p:nvPr/>
        </p:nvCxnSpPr>
        <p:spPr>
          <a:xfrm flipH="1">
            <a:off x="6797964" y="1524000"/>
            <a:ext cx="8682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20E0441-69ED-4F3F-7339-F6101BB576FA}"/>
              </a:ext>
            </a:extLst>
          </p:cNvPr>
          <p:cNvSpPr txBox="1"/>
          <p:nvPr/>
        </p:nvSpPr>
        <p:spPr>
          <a:xfrm>
            <a:off x="7721600" y="1302327"/>
            <a:ext cx="2184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/>
              <a:t>S1 </a:t>
            </a:r>
            <a:r>
              <a:rPr lang="ko-KR" altLang="en-US" sz="1000"/>
              <a:t>의 </a:t>
            </a:r>
            <a:r>
              <a:rPr lang="en-US" altLang="ko-KR" sz="1000"/>
              <a:t>R/L </a:t>
            </a:r>
            <a:r>
              <a:rPr lang="ko-KR" altLang="en-US" sz="1000"/>
              <a:t>기울기를 표시하며</a:t>
            </a:r>
            <a:r>
              <a:rPr lang="en-US" altLang="ko-KR" sz="1000"/>
              <a:t>,</a:t>
            </a:r>
          </a:p>
          <a:p>
            <a:r>
              <a:rPr lang="en-US" altLang="ko-KR" sz="1000"/>
              <a:t> </a:t>
            </a:r>
            <a:r>
              <a:rPr lang="ko-KR" altLang="en-US" sz="1000"/>
              <a:t>설정 각도 이상으로 기울면 </a:t>
            </a:r>
            <a:endParaRPr lang="en-US" altLang="ko-KR" sz="1000"/>
          </a:p>
          <a:p>
            <a:r>
              <a:rPr lang="en-US" altLang="ko-KR" sz="1000"/>
              <a:t>FAIL </a:t>
            </a:r>
            <a:r>
              <a:rPr lang="ko-KR" altLang="en-US" sz="1000"/>
              <a:t>경고를 표시한다</a:t>
            </a:r>
            <a:r>
              <a:rPr lang="en-US" altLang="ko-KR" sz="1000"/>
              <a:t>. </a:t>
            </a:r>
            <a:endParaRPr lang="ko-KR" altLang="en-US" sz="1000"/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B5532D83-1FC7-C136-A221-4512846B67A6}"/>
              </a:ext>
            </a:extLst>
          </p:cNvPr>
          <p:cNvCxnSpPr>
            <a:cxnSpLocks/>
          </p:cNvCxnSpPr>
          <p:nvPr/>
        </p:nvCxnSpPr>
        <p:spPr>
          <a:xfrm flipH="1">
            <a:off x="6761018" y="2355273"/>
            <a:ext cx="7204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F53A2BCC-FC22-5BA6-37AC-708B9834CCB3}"/>
              </a:ext>
            </a:extLst>
          </p:cNvPr>
          <p:cNvSpPr txBox="1"/>
          <p:nvPr/>
        </p:nvSpPr>
        <p:spPr>
          <a:xfrm>
            <a:off x="7666182" y="2104315"/>
            <a:ext cx="2184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/>
              <a:t>S2</a:t>
            </a:r>
            <a:r>
              <a:rPr lang="ko-KR" altLang="en-US" sz="1000"/>
              <a:t> 센서에 물체의 접근 거리를 표시한다</a:t>
            </a:r>
            <a:r>
              <a:rPr lang="en-US" altLang="ko-KR" sz="1000"/>
              <a:t>. </a:t>
            </a:r>
            <a:r>
              <a:rPr lang="ko-KR" altLang="en-US" sz="1000"/>
              <a:t>빨간색이 가장 가까운 거리이다</a:t>
            </a:r>
            <a:r>
              <a:rPr lang="en-US" altLang="ko-KR" sz="1000"/>
              <a:t>. </a:t>
            </a:r>
            <a:endParaRPr lang="ko-KR" altLang="en-US" sz="1000"/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3F8B777A-329A-294F-749F-4773FCBD08B6}"/>
              </a:ext>
            </a:extLst>
          </p:cNvPr>
          <p:cNvCxnSpPr>
            <a:cxnSpLocks/>
          </p:cNvCxnSpPr>
          <p:nvPr/>
        </p:nvCxnSpPr>
        <p:spPr>
          <a:xfrm flipH="1">
            <a:off x="4760192" y="3953164"/>
            <a:ext cx="247188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58251025-7EFF-721E-DED9-A0949894DA0F}"/>
              </a:ext>
            </a:extLst>
          </p:cNvPr>
          <p:cNvCxnSpPr>
            <a:cxnSpLocks/>
          </p:cNvCxnSpPr>
          <p:nvPr/>
        </p:nvCxnSpPr>
        <p:spPr>
          <a:xfrm flipH="1">
            <a:off x="6363855" y="2475346"/>
            <a:ext cx="114530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144C91A1-6F36-34B1-C37C-1E1D095F0B1A}"/>
              </a:ext>
            </a:extLst>
          </p:cNvPr>
          <p:cNvSpPr txBox="1"/>
          <p:nvPr/>
        </p:nvSpPr>
        <p:spPr>
          <a:xfrm>
            <a:off x="7407564" y="3743856"/>
            <a:ext cx="22721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/>
              <a:t>S2</a:t>
            </a:r>
            <a:r>
              <a:rPr lang="ko-KR" altLang="en-US" sz="1000"/>
              <a:t> 센서를 보는 </a:t>
            </a:r>
            <a:r>
              <a:rPr lang="en-US" altLang="ko-KR" sz="1000"/>
              <a:t>View</a:t>
            </a:r>
            <a:r>
              <a:rPr lang="ko-KR" altLang="en-US" sz="1000"/>
              <a:t>를 선택한다</a:t>
            </a:r>
            <a:r>
              <a:rPr lang="en-US" altLang="ko-KR" sz="1000"/>
              <a:t>. </a:t>
            </a:r>
          </a:p>
          <a:p>
            <a:r>
              <a:rPr lang="en-US" altLang="ko-KR" sz="1000"/>
              <a:t>- BAR View : </a:t>
            </a:r>
            <a:r>
              <a:rPr lang="ko-KR" altLang="en-US" sz="1000"/>
              <a:t>가로 한줄로 표시한다</a:t>
            </a:r>
            <a:r>
              <a:rPr lang="en-US" altLang="ko-KR" sz="1000"/>
              <a:t>. </a:t>
            </a:r>
          </a:p>
          <a:p>
            <a:r>
              <a:rPr lang="en-US" altLang="ko-KR" sz="1000"/>
              <a:t>- Line View : </a:t>
            </a:r>
            <a:r>
              <a:rPr lang="ko-KR" altLang="en-US" sz="1000"/>
              <a:t>세로 </a:t>
            </a:r>
            <a:r>
              <a:rPr lang="en-US" altLang="ko-KR" sz="1000"/>
              <a:t>8</a:t>
            </a:r>
            <a:r>
              <a:rPr lang="ko-KR" altLang="en-US" sz="1000"/>
              <a:t>칸으로 표시한다</a:t>
            </a:r>
            <a:r>
              <a:rPr lang="en-US" altLang="ko-KR" sz="1000"/>
              <a:t>. </a:t>
            </a:r>
          </a:p>
          <a:p>
            <a:r>
              <a:rPr lang="en-US" altLang="ko-KR" sz="1000"/>
              <a:t>- Cell View : 64 Cell</a:t>
            </a:r>
            <a:r>
              <a:rPr lang="ko-KR" altLang="en-US" sz="1000"/>
              <a:t> 모두를 표시한다</a:t>
            </a:r>
            <a:r>
              <a:rPr lang="en-US" altLang="ko-KR" sz="1000"/>
              <a:t>. </a:t>
            </a:r>
            <a:endParaRPr lang="ko-KR" altLang="en-US" sz="100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A7FB1CC-66EF-ADCA-6112-605AE50E3EF0}"/>
              </a:ext>
            </a:extLst>
          </p:cNvPr>
          <p:cNvSpPr txBox="1"/>
          <p:nvPr/>
        </p:nvSpPr>
        <p:spPr>
          <a:xfrm>
            <a:off x="5837381" y="6139143"/>
            <a:ext cx="39485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/>
              <a:t>고정 </a:t>
            </a:r>
            <a:r>
              <a:rPr lang="en-US" altLang="ko-KR" sz="800"/>
              <a:t>IP 192.168.0.203 </a:t>
            </a:r>
            <a:r>
              <a:rPr lang="ko-KR" altLang="en-US" sz="800"/>
              <a:t>을 사용한다</a:t>
            </a:r>
            <a:r>
              <a:rPr lang="en-US" altLang="ko-KR" sz="800"/>
              <a:t>. </a:t>
            </a:r>
            <a:endParaRPr lang="ko-KR" altLang="en-US" sz="8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FB5F68-AF65-6854-1D29-7BE7C141493A}"/>
              </a:ext>
            </a:extLst>
          </p:cNvPr>
          <p:cNvSpPr txBox="1"/>
          <p:nvPr/>
        </p:nvSpPr>
        <p:spPr>
          <a:xfrm>
            <a:off x="267855" y="129309"/>
            <a:ext cx="17179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Touch Monitor Panel 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2667334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78A39-1607-4370-6356-0C7BA43A6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65E65A8-40E7-4EDA-1BA1-56B3E634010E}"/>
              </a:ext>
            </a:extLst>
          </p:cNvPr>
          <p:cNvCxnSpPr/>
          <p:nvPr/>
        </p:nvCxnSpPr>
        <p:spPr>
          <a:xfrm>
            <a:off x="267855" y="508000"/>
            <a:ext cx="9310254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C7097BC0-8BEF-DB99-AF9A-995586997B4C}"/>
              </a:ext>
            </a:extLst>
          </p:cNvPr>
          <p:cNvCxnSpPr/>
          <p:nvPr/>
        </p:nvCxnSpPr>
        <p:spPr>
          <a:xfrm>
            <a:off x="297873" y="6548582"/>
            <a:ext cx="9310254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838B9E8-154B-59BD-D158-9E6ED849AA8F}"/>
              </a:ext>
            </a:extLst>
          </p:cNvPr>
          <p:cNvCxnSpPr/>
          <p:nvPr/>
        </p:nvCxnSpPr>
        <p:spPr>
          <a:xfrm>
            <a:off x="279401" y="452582"/>
            <a:ext cx="9310254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09C003CF-FEE4-9CEC-AC61-03D85EF1A9B9}"/>
              </a:ext>
            </a:extLst>
          </p:cNvPr>
          <p:cNvSpPr txBox="1"/>
          <p:nvPr/>
        </p:nvSpPr>
        <p:spPr>
          <a:xfrm>
            <a:off x="6493162" y="828958"/>
            <a:ext cx="353752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/>
              <a:t>열결을 하면 현재 동작하는 모든 센서가 감지가 된다</a:t>
            </a:r>
            <a:r>
              <a:rPr lang="en-US" altLang="ko-KR" sz="1000"/>
              <a:t>.</a:t>
            </a:r>
          </a:p>
          <a:p>
            <a:r>
              <a:rPr lang="en-US" altLang="ko-KR" sz="1000"/>
              <a:t>MAC </a:t>
            </a:r>
            <a:r>
              <a:rPr lang="ko-KR" altLang="en-US" sz="1000"/>
              <a:t>주소는 센서의 </a:t>
            </a:r>
            <a:r>
              <a:rPr lang="en-US" altLang="ko-KR" sz="1000"/>
              <a:t>ID </a:t>
            </a:r>
            <a:r>
              <a:rPr lang="ko-KR" altLang="en-US" sz="1000"/>
              <a:t>이며</a:t>
            </a:r>
            <a:r>
              <a:rPr lang="en-US" altLang="ko-KR" sz="1000"/>
              <a:t>, </a:t>
            </a:r>
          </a:p>
          <a:p>
            <a:endParaRPr lang="en-US" altLang="ko-KR" sz="1000"/>
          </a:p>
          <a:p>
            <a:r>
              <a:rPr lang="ko-KR" altLang="en-US" sz="1000"/>
              <a:t>어떤 센서를 가지고 있는지를 레포트한다</a:t>
            </a:r>
            <a:r>
              <a:rPr lang="en-US" altLang="ko-KR" sz="1000"/>
              <a:t>. </a:t>
            </a:r>
          </a:p>
          <a:p>
            <a:endParaRPr lang="en-US" altLang="ko-KR" sz="1000"/>
          </a:p>
          <a:p>
            <a:r>
              <a:rPr lang="en-US" altLang="ko-KR" sz="1000"/>
              <a:t>S1 :   1</a:t>
            </a:r>
            <a:r>
              <a:rPr lang="ko-KR" altLang="en-US" sz="1000"/>
              <a:t>  </a:t>
            </a:r>
            <a:r>
              <a:rPr lang="en-US" altLang="ko-KR" sz="1000"/>
              <a:t>Zone</a:t>
            </a:r>
            <a:r>
              <a:rPr lang="ko-KR" altLang="en-US" sz="1000"/>
              <a:t> 거리 센서 </a:t>
            </a:r>
            <a:endParaRPr lang="en-US" altLang="ko-KR" sz="1000"/>
          </a:p>
          <a:p>
            <a:r>
              <a:rPr lang="en-US" altLang="ko-KR" sz="1000"/>
              <a:t>S2 :    64 Zone </a:t>
            </a:r>
            <a:r>
              <a:rPr lang="ko-KR" altLang="en-US" sz="1000"/>
              <a:t>거리 센서 </a:t>
            </a:r>
            <a:endParaRPr lang="en-US" altLang="ko-KR" sz="1000"/>
          </a:p>
          <a:p>
            <a:endParaRPr lang="en-US" altLang="ko-KR" sz="1000"/>
          </a:p>
          <a:p>
            <a:r>
              <a:rPr lang="ko-KR" altLang="en-US" sz="1000"/>
              <a:t>현재 센서와 장애물 까지의 거리를 보여주므로</a:t>
            </a:r>
            <a:r>
              <a:rPr lang="en-US" altLang="ko-KR" sz="1000"/>
              <a:t>, </a:t>
            </a:r>
          </a:p>
          <a:p>
            <a:r>
              <a:rPr lang="ko-KR" altLang="en-US" sz="1000"/>
              <a:t>어떤 제품인지 특정을 하는데 사용할 수 있다</a:t>
            </a:r>
            <a:r>
              <a:rPr lang="en-US" altLang="ko-KR" sz="1000"/>
              <a:t>. </a:t>
            </a:r>
            <a:endParaRPr lang="ko-KR" altLang="en-US" sz="100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A0409C59-92FF-4133-6569-CFDDACD43C44}"/>
              </a:ext>
            </a:extLst>
          </p:cNvPr>
          <p:cNvSpPr/>
          <p:nvPr/>
        </p:nvSpPr>
        <p:spPr>
          <a:xfrm>
            <a:off x="3942772" y="5705783"/>
            <a:ext cx="1743363" cy="466424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accent5">
                    <a:lumMod val="60000"/>
                    <a:lumOff val="40000"/>
                  </a:schemeClr>
                </a:solidFill>
              </a:rPr>
              <a:t>SETUP PC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5946EB0-EA79-8ACE-06FF-71765D01B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052" y="785172"/>
            <a:ext cx="5437932" cy="43871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BD9C248-71DD-C63D-9BFA-963C92C3D431}"/>
              </a:ext>
            </a:extLst>
          </p:cNvPr>
          <p:cNvSpPr txBox="1"/>
          <p:nvPr/>
        </p:nvSpPr>
        <p:spPr>
          <a:xfrm>
            <a:off x="267855" y="129309"/>
            <a:ext cx="17179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SETUP PC – </a:t>
            </a:r>
            <a:r>
              <a:rPr lang="ko-KR" altLang="en-US" sz="1200"/>
              <a:t>센서 검색 </a:t>
            </a:r>
            <a:r>
              <a:rPr lang="en-US" altLang="ko-KR" sz="1200"/>
              <a:t> </a:t>
            </a:r>
            <a:endParaRPr lang="ko-KR" altLang="en-US" sz="1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CD92C94-7B65-E638-919E-BD5B00E6F6F7}"/>
                  </a:ext>
                </a:extLst>
              </p:cNvPr>
              <p:cNvSpPr txBox="1"/>
              <p:nvPr/>
            </p:nvSpPr>
            <p:spPr>
              <a:xfrm>
                <a:off x="6576291" y="2650836"/>
                <a:ext cx="3031836" cy="31197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/>
                  <a:t>S2 : Near-Infrared,940nm </a:t>
                </a:r>
                <a:r>
                  <a:rPr lang="ko-KR" altLang="en-US" sz="1000"/>
                  <a:t>의 레이져 광원 사용하여 </a:t>
                </a:r>
                <a:endParaRPr lang="en-US" altLang="ko-KR" sz="1000"/>
              </a:p>
              <a:p>
                <a:r>
                  <a:rPr lang="ko-KR" altLang="en-US" sz="1000"/>
                  <a:t>빛이 되돌아 온 시간을 측정하여 거리를 측정한다</a:t>
                </a:r>
                <a:r>
                  <a:rPr lang="en-US" altLang="ko-KR" sz="1000"/>
                  <a:t>.</a:t>
                </a:r>
              </a:p>
              <a:p>
                <a:r>
                  <a:rPr lang="en-US" altLang="ko-KR" sz="1000"/>
                  <a:t>ToF </a:t>
                </a:r>
                <a:r>
                  <a:rPr lang="ko-KR" altLang="en-US" sz="1000"/>
                  <a:t>방식을 사용한다</a:t>
                </a:r>
                <a:r>
                  <a:rPr lang="en-US" altLang="ko-KR" sz="1000"/>
                  <a:t>.  </a:t>
                </a:r>
                <a:r>
                  <a:rPr lang="ko-KR" altLang="en-US" sz="1000"/>
                  <a:t> </a:t>
                </a:r>
                <a:endParaRPr lang="en-US" altLang="ko-KR" sz="1000"/>
              </a:p>
              <a:p>
                <a:endParaRPr lang="en-US" altLang="ko-KR" sz="100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𝐷𝑖𝑠𝑡𝑎𝑛𝑐𝑒</m:t>
                      </m:r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l-GR" altLang="ko-KR" sz="1000" b="0" i="1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num>
                        <m:den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altLang="ko-KR" sz="1000"/>
              </a:p>
              <a:p>
                <a:r>
                  <a:rPr lang="en-US" altLang="ko-KR" sz="1000"/>
                  <a:t>                                     c </a:t>
                </a:r>
                <a:r>
                  <a:rPr lang="ko-KR" altLang="ko-KR" sz="1000"/>
                  <a:t>≈</a:t>
                </a:r>
                <a:r>
                  <a:rPr lang="en-US" altLang="ko-KR" sz="1000"/>
                  <a:t>  </a:t>
                </a:r>
                <a14:m>
                  <m:oMath xmlns:m="http://schemas.openxmlformats.org/officeDocument/2006/math">
                    <m:r>
                      <a:rPr lang="en-US" altLang="ko-KR" sz="1000" b="0" i="1" smtClean="0">
                        <a:latin typeface="Cambria Math" panose="02040503050406030204" pitchFamily="18" charset="0"/>
                      </a:rPr>
                      <m:t>3 </m:t>
                    </m:r>
                    <m:r>
                      <a:rPr lang="en-US" altLang="ko-KR" sz="1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1000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ko-KR" altLang="en-US" sz="1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en-US" altLang="ko-KR" sz="1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0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ko-KR" sz="10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ko-KR" sz="10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altLang="ko-KR" sz="1000"/>
              </a:p>
              <a:p>
                <a:endParaRPr lang="en-US" altLang="ko-KR" sz="1000"/>
              </a:p>
              <a:p>
                <a:endParaRPr lang="en-US" altLang="ko-KR" sz="1000"/>
              </a:p>
              <a:p>
                <a:r>
                  <a:rPr lang="en-US" altLang="ko-KR" sz="1000"/>
                  <a:t>S1 : Near-Infrared,850nm </a:t>
                </a:r>
                <a:r>
                  <a:rPr lang="ko-KR" altLang="en-US" sz="1000"/>
                  <a:t>의 레이져 광원 사용</a:t>
                </a:r>
                <a:r>
                  <a:rPr lang="en-US" altLang="ko-KR" sz="1000"/>
                  <a:t>.</a:t>
                </a:r>
              </a:p>
              <a:p>
                <a:r>
                  <a:rPr lang="ko-KR" altLang="en-US" sz="1000"/>
                  <a:t> </a:t>
                </a:r>
                <a:r>
                  <a:rPr lang="en-US" altLang="ko-KR" sz="1000"/>
                  <a:t>iToF ( Indirect ToF/Phase-shift)  </a:t>
                </a:r>
                <a:r>
                  <a:rPr lang="ko-KR" altLang="en-US" sz="1000"/>
                  <a:t>방법으로 거리를 측정한다</a:t>
                </a:r>
                <a:r>
                  <a:rPr lang="en-US" altLang="ko-KR" sz="1000"/>
                  <a:t>. Single-point  </a:t>
                </a:r>
                <a:r>
                  <a:rPr lang="ko-KR" altLang="en-US" sz="1000"/>
                  <a:t>의 단일점을 향해 레이저를 </a:t>
                </a:r>
                <a:endParaRPr lang="en-US" altLang="ko-KR" sz="1000"/>
              </a:p>
              <a:p>
                <a:r>
                  <a:rPr lang="ko-KR" altLang="en-US" sz="1000"/>
                  <a:t>주사해서 시간이 아니라 빛의 위상변화</a:t>
                </a:r>
                <a:r>
                  <a:rPr lang="en-US" altLang="ko-KR" sz="1000"/>
                  <a:t>(Phase Shift) </a:t>
                </a:r>
                <a:r>
                  <a:rPr lang="ko-KR" altLang="en-US" sz="1000"/>
                  <a:t>를 이용해서 거리를 환원한다</a:t>
                </a:r>
                <a:r>
                  <a:rPr lang="en-US" altLang="ko-KR" sz="1000"/>
                  <a:t>. </a:t>
                </a:r>
              </a:p>
              <a:p>
                <a:endParaRPr lang="en-US" altLang="ko-KR" sz="1000"/>
              </a:p>
              <a:p>
                <a:endParaRPr lang="en-US" altLang="ko-KR" sz="1000"/>
              </a:p>
              <a:p>
                <a:r>
                  <a:rPr lang="en-US" altLang="ko-KR" sz="1000"/>
                  <a:t> </a:t>
                </a:r>
                <a14:m>
                  <m:oMath xmlns:m="http://schemas.openxmlformats.org/officeDocument/2006/math"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𝐷𝑖𝑠𝑡𝑎𝑛𝑐𝑒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nor/>
                          </m:rPr>
                          <a:rPr lang="en-US" altLang="ko-KR" sz="1200"/>
                          <m:t>π</m:t>
                        </m:r>
                        <m:r>
                          <m:rPr>
                            <m:nor/>
                          </m:rPr>
                          <a:rPr lang="en-US" altLang="ko-KR" sz="1200" b="0" i="0" smtClean="0"/>
                          <m:t> </m:t>
                        </m:r>
                        <m:r>
                          <m:rPr>
                            <m:nor/>
                          </m:rPr>
                          <a:rPr lang="en-US" altLang="ko-KR" sz="1200" b="0" i="0" smtClean="0"/>
                          <m:t>f</m:t>
                        </m:r>
                      </m:den>
                    </m:f>
                  </m:oMath>
                </a14:m>
                <a:r>
                  <a:rPr lang="ko-KR" altLang="ko-KR" sz="1200"/>
                  <a:t> </a:t>
                </a:r>
                <a:r>
                  <a:rPr lang="el-GR" altLang="ko-KR" sz="1200">
                    <a:ea typeface="맑은 고딕" panose="020B0503020000020004" pitchFamily="50" charset="-127"/>
                  </a:rPr>
                  <a:t>θ</a:t>
                </a:r>
                <a:endParaRPr lang="en-US" altLang="ko-KR" sz="1200"/>
              </a:p>
              <a:p>
                <a:r>
                  <a:rPr lang="en-US" altLang="ko-KR" sz="1000"/>
                  <a:t>(c </a:t>
                </a:r>
                <a:r>
                  <a:rPr lang="ko-KR" altLang="ko-KR" sz="1000"/>
                  <a:t>≈</a:t>
                </a:r>
                <a:r>
                  <a:rPr lang="en-US" altLang="ko-KR" sz="1000"/>
                  <a:t>  </a:t>
                </a:r>
                <a14:m>
                  <m:oMath xmlns:m="http://schemas.openxmlformats.org/officeDocument/2006/math">
                    <m:r>
                      <a:rPr lang="en-US" altLang="ko-KR" sz="1000" i="1">
                        <a:latin typeface="Cambria Math" panose="02040503050406030204" pitchFamily="18" charset="0"/>
                      </a:rPr>
                      <m:t>3 </m:t>
                    </m:r>
                    <m:r>
                      <a:rPr lang="en-US" altLang="ko-KR" sz="1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1000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ko-KR" altLang="en-US" sz="1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en-US" altLang="ko-KR" sz="1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0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ko-KR" sz="1000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ko-KR" sz="10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ko-KR" sz="1000"/>
                  <a:t> , f : frequency</a:t>
                </a:r>
                <a:r>
                  <a:rPr lang="ko-KR" altLang="en-US" sz="1000"/>
                  <a:t> </a:t>
                </a:r>
                <a:r>
                  <a:rPr lang="en-US" altLang="ko-KR" sz="1000"/>
                  <a:t>, </a:t>
                </a:r>
                <a:r>
                  <a:rPr lang="el-GR" altLang="ko-KR" sz="1000"/>
                  <a:t>θ</a:t>
                </a:r>
                <a:r>
                  <a:rPr lang="en-US" altLang="ko-KR" sz="1000"/>
                  <a:t> : Phase radian )  </a:t>
                </a:r>
              </a:p>
              <a:p>
                <a:endParaRPr lang="ko-KR" altLang="en-US" sz="100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CD92C94-7B65-E638-919E-BD5B00E6F6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6291" y="2650836"/>
                <a:ext cx="3031836" cy="31197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7301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7A8A3-9C90-CA65-68A7-B63A82991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8B2956C8-0C38-73A9-3ED4-B1F1ED4DB3A7}"/>
              </a:ext>
            </a:extLst>
          </p:cNvPr>
          <p:cNvCxnSpPr/>
          <p:nvPr/>
        </p:nvCxnSpPr>
        <p:spPr>
          <a:xfrm>
            <a:off x="267855" y="508000"/>
            <a:ext cx="9310254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58C31368-647D-1C96-D99C-9A15D9C8DC61}"/>
              </a:ext>
            </a:extLst>
          </p:cNvPr>
          <p:cNvCxnSpPr/>
          <p:nvPr/>
        </p:nvCxnSpPr>
        <p:spPr>
          <a:xfrm>
            <a:off x="297873" y="6548582"/>
            <a:ext cx="9310254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E6ABAA8F-1F53-2E17-D018-42C71EF40CD3}"/>
              </a:ext>
            </a:extLst>
          </p:cNvPr>
          <p:cNvCxnSpPr/>
          <p:nvPr/>
        </p:nvCxnSpPr>
        <p:spPr>
          <a:xfrm>
            <a:off x="279401" y="452582"/>
            <a:ext cx="9310254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56F4344-B27F-4FCA-F1DE-E23D425E2448}"/>
              </a:ext>
            </a:extLst>
          </p:cNvPr>
          <p:cNvSpPr txBox="1"/>
          <p:nvPr/>
        </p:nvSpPr>
        <p:spPr>
          <a:xfrm>
            <a:off x="6807199" y="881926"/>
            <a:ext cx="3186545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/>
              <a:t>검색된 센서를 사용하여 </a:t>
            </a:r>
            <a:endParaRPr lang="en-US" altLang="ko-KR" sz="1000"/>
          </a:p>
          <a:p>
            <a:r>
              <a:rPr lang="ko-KR" altLang="en-US" sz="1000"/>
              <a:t>센서의 위치를 저장한다</a:t>
            </a:r>
            <a:r>
              <a:rPr lang="en-US" altLang="ko-KR" sz="1000"/>
              <a:t>. </a:t>
            </a:r>
          </a:p>
          <a:p>
            <a:endParaRPr lang="en-US" altLang="ko-KR" sz="1000"/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000"/>
              <a:t> S1 </a:t>
            </a:r>
            <a:r>
              <a:rPr lang="ko-KR" altLang="en-US" sz="1000"/>
              <a:t>장치 매핑 </a:t>
            </a:r>
            <a:endParaRPr lang="en-US" altLang="ko-KR" sz="1000"/>
          </a:p>
          <a:p>
            <a:r>
              <a:rPr lang="ko-KR" altLang="en-US" sz="1000"/>
              <a:t> </a:t>
            </a:r>
            <a:r>
              <a:rPr lang="en-US" altLang="ko-KR" sz="1000"/>
              <a:t>MAC </a:t>
            </a:r>
            <a:r>
              <a:rPr lang="ko-KR" altLang="en-US" sz="1000"/>
              <a:t>주소 사용해 </a:t>
            </a:r>
            <a:r>
              <a:rPr lang="en-US" altLang="ko-KR" sz="1000"/>
              <a:t>L/R </a:t>
            </a:r>
            <a:r>
              <a:rPr lang="ko-KR" altLang="en-US" sz="1000"/>
              <a:t>의 위치를 저장한다</a:t>
            </a:r>
            <a:r>
              <a:rPr lang="en-US" altLang="ko-KR" sz="1000"/>
              <a:t>.</a:t>
            </a:r>
          </a:p>
          <a:p>
            <a:r>
              <a:rPr lang="en-US" altLang="ko-KR" sz="1000"/>
              <a:t>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000"/>
              <a:t>기울기 세팅 </a:t>
            </a:r>
            <a:endParaRPr lang="en-US" altLang="ko-KR" sz="1000"/>
          </a:p>
          <a:p>
            <a:r>
              <a:rPr lang="ko-KR" altLang="en-US" sz="1000"/>
              <a:t>기울기 실시간 미리보기를 통해 현재의 거리가 표시가 된다</a:t>
            </a:r>
            <a:r>
              <a:rPr lang="en-US" altLang="ko-KR" sz="1000"/>
              <a:t>. </a:t>
            </a:r>
          </a:p>
          <a:p>
            <a:r>
              <a:rPr lang="ko-KR" altLang="en-US" sz="1000"/>
              <a:t>현재 상태를 수평기준으로 저장하면 </a:t>
            </a:r>
            <a:endParaRPr lang="en-US" altLang="ko-KR" sz="1000"/>
          </a:p>
          <a:p>
            <a:r>
              <a:rPr lang="ko-KR" altLang="en-US" sz="1000"/>
              <a:t>현재 상태가 </a:t>
            </a:r>
            <a:r>
              <a:rPr lang="en-US" altLang="ko-KR" sz="1000"/>
              <a:t> 0 </a:t>
            </a:r>
            <a:r>
              <a:rPr lang="ko-KR" altLang="en-US" sz="1000"/>
              <a:t>도가 된다</a:t>
            </a:r>
            <a:r>
              <a:rPr lang="en-US" altLang="ko-KR" sz="1000"/>
              <a:t>. </a:t>
            </a:r>
          </a:p>
          <a:p>
            <a:endParaRPr lang="en-US" altLang="ko-KR" sz="1000"/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000"/>
              <a:t>S2 </a:t>
            </a:r>
            <a:r>
              <a:rPr lang="ko-KR" altLang="en-US" sz="1000"/>
              <a:t>장치 매핑 </a:t>
            </a:r>
            <a:endParaRPr lang="en-US" altLang="ko-KR" sz="1000"/>
          </a:p>
          <a:p>
            <a:endParaRPr lang="en-US" altLang="ko-KR" sz="1000"/>
          </a:p>
          <a:p>
            <a:r>
              <a:rPr lang="en-US" altLang="ko-KR" sz="1000"/>
              <a:t> MAC </a:t>
            </a:r>
            <a:r>
              <a:rPr lang="ko-KR" altLang="en-US" sz="1000"/>
              <a:t>주소를 사용하여</a:t>
            </a:r>
            <a:r>
              <a:rPr lang="en-US" altLang="ko-KR" sz="1000"/>
              <a:t>, </a:t>
            </a:r>
            <a:r>
              <a:rPr lang="ko-KR" altLang="en-US" sz="1000"/>
              <a:t>어떤 위치에 있는 지를 설정한다</a:t>
            </a:r>
            <a:r>
              <a:rPr lang="en-US" altLang="ko-KR" sz="1000"/>
              <a:t>. </a:t>
            </a:r>
          </a:p>
          <a:p>
            <a:r>
              <a:rPr lang="ko-KR" altLang="en-US" sz="1000"/>
              <a:t>화면의 오른쪽 부터</a:t>
            </a:r>
            <a:r>
              <a:rPr lang="en-US" altLang="ko-KR" sz="1000"/>
              <a:t>, Pos1,Pos2…Pos</a:t>
            </a:r>
            <a:r>
              <a:rPr lang="ko-KR" altLang="en-US" sz="1000"/>
              <a:t> </a:t>
            </a:r>
            <a:r>
              <a:rPr lang="en-US" altLang="ko-KR" sz="1000"/>
              <a:t>N</a:t>
            </a:r>
            <a:r>
              <a:rPr lang="ko-KR" altLang="en-US" sz="1000"/>
              <a:t> 을 설정한다</a:t>
            </a:r>
            <a:r>
              <a:rPr lang="en-US" altLang="ko-KR" sz="1000"/>
              <a:t>. </a:t>
            </a:r>
          </a:p>
          <a:p>
            <a:endParaRPr lang="en-US" altLang="ko-KR" sz="1000"/>
          </a:p>
          <a:p>
            <a:endParaRPr lang="en-US" altLang="ko-KR" sz="1000"/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000"/>
              <a:t>Calibration </a:t>
            </a:r>
          </a:p>
          <a:p>
            <a:endParaRPr lang="en-US" altLang="ko-KR" sz="1000"/>
          </a:p>
          <a:p>
            <a:r>
              <a:rPr lang="en-US" altLang="ko-KR" sz="1000"/>
              <a:t>S1 </a:t>
            </a:r>
            <a:r>
              <a:rPr lang="ko-KR" altLang="en-US" sz="1000"/>
              <a:t>센서의 </a:t>
            </a:r>
            <a:r>
              <a:rPr lang="en-US" altLang="ko-KR" sz="1000"/>
              <a:t>L/R </a:t>
            </a:r>
            <a:r>
              <a:rPr lang="ko-KR" altLang="en-US" sz="1000"/>
              <a:t>사이의 거리를 세팅한다</a:t>
            </a:r>
            <a:r>
              <a:rPr lang="en-US" altLang="ko-KR" sz="1000"/>
              <a:t>. </a:t>
            </a:r>
          </a:p>
          <a:p>
            <a:r>
              <a:rPr lang="ko-KR" altLang="en-US" sz="1000"/>
              <a:t>그리고 경보 한계의 기울기도 세팅할 수있으며</a:t>
            </a:r>
            <a:r>
              <a:rPr lang="en-US" altLang="ko-KR" sz="1000"/>
              <a:t>, </a:t>
            </a:r>
          </a:p>
          <a:p>
            <a:r>
              <a:rPr lang="en-US" altLang="ko-KR" sz="1000"/>
              <a:t>S2 </a:t>
            </a:r>
            <a:r>
              <a:rPr lang="ko-KR" altLang="en-US" sz="1000"/>
              <a:t>센서에 장애물이 얼마나 근접해야 경보를 울릴지를 결정 할수 있다</a:t>
            </a:r>
            <a:r>
              <a:rPr lang="en-US" altLang="ko-KR" sz="1000"/>
              <a:t>. </a:t>
            </a:r>
          </a:p>
          <a:p>
            <a:endParaRPr lang="ko-KR" altLang="en-US" sz="100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36929C4E-8EEF-CD60-577E-56D64F3810A8}"/>
              </a:ext>
            </a:extLst>
          </p:cNvPr>
          <p:cNvSpPr/>
          <p:nvPr/>
        </p:nvSpPr>
        <p:spPr>
          <a:xfrm>
            <a:off x="3952009" y="5708233"/>
            <a:ext cx="1743363" cy="466424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accent5">
                    <a:lumMod val="60000"/>
                    <a:lumOff val="40000"/>
                  </a:schemeClr>
                </a:solidFill>
              </a:rPr>
              <a:t>SETUP PC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0190AB9-02D5-6239-9C84-81446C7A3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501" y="785172"/>
            <a:ext cx="5752392" cy="46458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1F5D96-302B-F635-ED38-F191DC47D961}"/>
              </a:ext>
            </a:extLst>
          </p:cNvPr>
          <p:cNvSpPr txBox="1"/>
          <p:nvPr/>
        </p:nvSpPr>
        <p:spPr>
          <a:xfrm>
            <a:off x="267855" y="129309"/>
            <a:ext cx="33805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SETUP PC – </a:t>
            </a:r>
            <a:r>
              <a:rPr lang="ko-KR" altLang="en-US" sz="1200"/>
              <a:t>센서의 위치 설정 </a:t>
            </a:r>
          </a:p>
        </p:txBody>
      </p:sp>
    </p:spTree>
    <p:extLst>
      <p:ext uri="{BB962C8B-B14F-4D97-AF65-F5344CB8AC3E}">
        <p14:creationId xmlns:p14="http://schemas.microsoft.com/office/powerpoint/2010/main" val="598602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98</TotalTime>
  <Words>366</Words>
  <Application>Microsoft Office PowerPoint</Application>
  <PresentationFormat>A4 용지(210x297mm)</PresentationFormat>
  <Paragraphs>77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2" baseType="lpstr">
      <vt:lpstr>맑은 고딕</vt:lpstr>
      <vt:lpstr>Aptos</vt:lpstr>
      <vt:lpstr>Aptos Display</vt:lpstr>
      <vt:lpstr>Arial</vt:lpstr>
      <vt:lpstr>Calibri</vt:lpstr>
      <vt:lpstr>Cambria Math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wonho lee</dc:creator>
  <cp:lastModifiedBy>wonho lee</cp:lastModifiedBy>
  <cp:revision>3</cp:revision>
  <dcterms:created xsi:type="dcterms:W3CDTF">2026-06-23T12:59:37Z</dcterms:created>
  <dcterms:modified xsi:type="dcterms:W3CDTF">2026-06-24T11:25:38Z</dcterms:modified>
</cp:coreProperties>
</file>